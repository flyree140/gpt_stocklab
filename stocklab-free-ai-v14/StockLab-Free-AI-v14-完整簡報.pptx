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封面。強調完全免費、每日新聞分析、每日置頂、Google Sheets 最愛與無洩漏回測。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82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StockLab Free AI v14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6510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829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研究工具，不構成投資建議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715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完全免費 · GitHub-first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7899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StockLab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9222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Free AI v14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432304"/>
            <a:ext cx="5074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每日新聞影響分析 × 最多 Top 5 置頂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傳統面補全 × Google Sheets 最愛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無未來洩漏的歷史驗證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404164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Pages + Actions｜Hugging Face 開源模型｜Google Apps 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" y="4736592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38BDF8">
              <a:alpha val="16000"/>
            </a:srgbClr>
          </a:solidFill>
          <a:ln w="1016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474116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 -100～+100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473659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59E0B">
              <a:alpha val="16000"/>
            </a:srgbClr>
          </a:solidFill>
          <a:ln w="10160">
            <a:solidFill>
              <a:srgbClr val="F59E0B">
                <a:alpha val="42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47411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每日最佳自動置頂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473659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A78BFA">
              <a:alpha val="16000"/>
            </a:srgbClr>
          </a:solidFill>
          <a:ln w="10160">
            <a:solidFill>
              <a:srgbClr val="A78BFA">
                <a:alpha val="42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47411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答案分離回測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612648"/>
            <a:ext cx="5623560" cy="5532120"/>
          </a:xfrm>
          <a:prstGeom prst="roundRect">
            <a:avLst>
              <a:gd name="adj" fmla="val 1322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27940" dist="12700" dir="2700000">
              <a:srgbClr val="000000">
                <a:alpha val="22000"/>
              </a:srgbClr>
            </a:outerShdw>
          </a:effectLst>
        </p:spPr>
      </p:sp>
      <p:pic>
        <p:nvPicPr>
          <p:cNvPr id="15" name="Image 0" descr="/mnt/data/stocklab-free-ai-v14/assets/screenshots/overview.png">    </p:cNvPr>
          <p:cNvPicPr>
            <a:picLocks noChangeAspect="1"/>
          </p:cNvPicPr>
          <p:nvPr/>
        </p:nvPicPr>
        <p:blipFill>
          <a:blip r:embed="rId1"/>
          <a:srcRect l="0" r="-4505" t="0" b="35568"/>
          <a:stretch/>
        </p:blipFill>
        <p:spPr>
          <a:xfrm>
            <a:off x="6080760" y="658368"/>
            <a:ext cx="5532120" cy="54406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85216" y="5833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交付版本：14.0.0-free-ai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原本最需要解決的，不只是「再多一個分數」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真正的問題是資訊過載、證據不透明、歷史驗證容易偷看未來，以及免費部署難以長期維持。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9164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354838000" dist="161290000" dir="162000000000">
              <a:srgbClr val="000000">
                <a:alpha val="22000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810512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新聞太多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25856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只有標題與情緒，無法知道影響營收、毛利、估值或風險的哪一段。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4506442600000" dist="2048383000000" dir="9720000000000000">
              <a:srgbClr val="000000">
                <a:alpha val="2200000000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35424" y="18288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157216" y="1810512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分數不透明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25856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健康度或 AI 分數若無來源、權重與完整度，容易造成錯誤信心。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4736" y="169164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57231821020000000" dist="26014464100000000" dir="583200000000000000000">
              <a:srgbClr val="000000">
                <a:alpha val="220000000000000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7616" y="18288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79408" y="1810512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傳統面不完整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258568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技術、基本、籌碼、估值與風險散落，缺資料卻常被當作中性。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0352" y="3685032"/>
            <a:ext cx="5349240" cy="1627632"/>
          </a:xfrm>
          <a:prstGeom prst="roundRect">
            <a:avLst>
              <a:gd name="adj" fmla="val 4494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726844126954000000000" dist="330383694070000000000" dir="3.4992e+25">
              <a:srgbClr val="000000">
                <a:alpha val="2.2e+24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3232" y="3822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3803904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回測答案外洩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251960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使用今天的基本面、切點後新聞或未來價格，會讓模型看起來過度準確。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685032"/>
            <a:ext cx="5349240" cy="1627632"/>
          </a:xfrm>
          <a:prstGeom prst="roundRect">
            <a:avLst>
              <a:gd name="adj" fmla="val 4494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9.2309204123158e+24" dist="4.195872914689e+24" dir="2.09952e+30">
              <a:srgbClr val="000000">
                <a:alpha val="2.2e+29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9360" y="38221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803904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免費架構不穩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51960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付費 API、常駐後端與多套部署流程，提高維護成本與失敗機率。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8521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設計原則：缺資料要扣分；模型失敗要降級；答案必須與預測分開。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StockLab v14 的四個核心模組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從「每日資料」一路到「可驗證預測」，每一層都能獨立運作與降級。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2633472" cy="3438144"/>
          </a:xfrm>
          <a:prstGeom prst="roundRect">
            <a:avLst>
              <a:gd name="adj" fmla="val 2778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1.1723268923641065e+29" dist="5.3287586016550295e+28" dir="1.259712e+35">
              <a:srgbClr val="000000">
                <a:alpha val="2.2e+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47088"/>
            <a:ext cx="530352" cy="530352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5623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新聞情報層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RSS、GDELT、TWSE 重訊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關聯性、去重、來源品質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逐則影響分與機制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85800" y="459943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38BDF8">
              <a:alpha val="16000"/>
            </a:srgbClr>
          </a:solidFill>
          <a:ln w="1016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6040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每日輸入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1568" y="1627632"/>
            <a:ext cx="2633472" cy="3438144"/>
          </a:xfrm>
          <a:prstGeom prst="roundRect">
            <a:avLst>
              <a:gd name="adj" fmla="val 277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1.4888551533024154e+33" dist="6.767523424101888e+32" dir="7.558272e+39">
              <a:srgbClr val="000000">
                <a:alpha val="2.2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4448" y="1847088"/>
            <a:ext cx="530352" cy="53035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84448" y="185623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25420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綜合研究層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3108960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技術、基本、籌碼、估值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風險與資料完整度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每日最多 Top 5 置頂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84448" y="459943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84448" y="46040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每日排序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0216" y="1627632"/>
            <a:ext cx="2633472" cy="3438144"/>
          </a:xfrm>
          <a:prstGeom prst="roundRect">
            <a:avLst>
              <a:gd name="adj" fmla="val 2778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1.8908460446940676e+37" dist="8.594754748609397e+36" dir="4.5349632000000006e+44">
              <a:srgbClr val="000000">
                <a:alpha val="2.2e+4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1847088"/>
            <a:ext cx="530352" cy="530352"/>
          </a:xfrm>
          <a:prstGeom prst="ellipse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83096" y="185623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83096" y="25420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個人工作區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108960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我的最愛與個人備註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localStorage 優先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Sheets 跨裝置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483096" y="459943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F59E0B">
              <a:alpha val="16000"/>
            </a:srgbClr>
          </a:solidFill>
          <a:ln w="10160">
            <a:solidFill>
              <a:srgbClr val="F59E0B">
                <a:alpha val="42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83096" y="46040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跨裝置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98864" y="1627632"/>
            <a:ext cx="2633472" cy="3438144"/>
          </a:xfrm>
          <a:prstGeom prst="roundRect">
            <a:avLst>
              <a:gd name="adj" fmla="val 277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2.4013744767614657e+41" dist="1.0915338530733935e+41" dir="2.72097792e+49">
              <a:srgbClr val="000000">
                <a:alpha val="2.2e+4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81744" y="1847088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81744" y="185623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381744" y="25420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驗證與治理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3108960"/>
            <a:ext cx="2267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Point-in-time snapshot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結果檔顯式揭曉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日期與禁用欄位檢查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381744" y="459943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A78BFA">
              <a:alpha val="16000"/>
            </a:srgbClr>
          </a:solidFill>
          <a:ln w="10160">
            <a:solidFill>
              <a:srgbClr val="A78BFA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81744" y="46040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先預測後揭曉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" y="5376672"/>
            <a:ext cx="10863072" cy="658368"/>
          </a:xfrm>
          <a:prstGeom prst="roundRect">
            <a:avLst>
              <a:gd name="adj" fmla="val 11111"/>
            </a:avLst>
          </a:prstGeom>
          <a:solidFill>
            <a:srgbClr val="0A2630"/>
          </a:solidFill>
          <a:ln w="12700">
            <a:solidFill>
              <a:srgbClr val="175E6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504688"/>
            <a:ext cx="10387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最重要的差異：AI 不是裝飾。每個結論都保留新聞、時間、來源、信心、作用路徑與風險條件。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零常駐伺服器的免費架構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模型在 GitHub runner 本機執行；前端只讀靜態 JSON，最愛則寫入使用者自己的 Google Sheet。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202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4825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免費資料來源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News RSS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GDELT · TWSE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9202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204825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3774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排程抓取與驗證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7488" y="155448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682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財經情緒模型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全量新聞分類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274320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2871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Qwen3-0.6B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高相關事件解釋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0" y="19202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07808" y="204825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 JSON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23774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latest · snapshots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02368" y="19202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025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12096" y="204825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912096" y="237744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純前端研究介面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04872" y="2377440"/>
            <a:ext cx="384048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63440" y="2377440"/>
            <a:ext cx="384048" cy="-36576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63440" y="2377440"/>
            <a:ext cx="384048" cy="82296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95744" y="2011680"/>
            <a:ext cx="402336" cy="292608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95744" y="3200400"/>
            <a:ext cx="402336" cy="-749808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2377440"/>
            <a:ext cx="429768" cy="0"/>
          </a:xfrm>
          <a:prstGeom prst="line">
            <a:avLst/>
          </a:prstGeom>
          <a:noFill/>
          <a:ln w="22860">
            <a:solidFill>
              <a:srgbClr val="22D3B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88720" y="4370832"/>
            <a:ext cx="4526280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89888" y="45354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我的最愛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542032" y="44897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localStorage 先保存  →  Apps Script  →  Google Sheets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92240" y="4370832"/>
            <a:ext cx="4526280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4988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必要固定費用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66176" y="441655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NT$ 0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0" y="45171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 repo / 個人規模 / 服務額度內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不依賴 Hugging Face 付費 Serverless Inference；模型權重由 workflow 下載並快取。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PIPELINE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每天自動完成的 8 個步驟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工作日台北時間傍晚執行；每一階段都有清楚輸入、輸出與 fallback。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05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抓價格與官方資料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2677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Yahoo chart / TWSE OpenAPI / T86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45536" y="2468880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0712" y="1664208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80136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1805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50792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抓近期新聞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2677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News RSS / GDELT / 重訊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468880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18504" y="1664208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180136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55664" y="1805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時間截斷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22677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published_at、available_at 不得晚於切點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2468880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26296" y="1664208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63456" y="180136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3456" y="1805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66376" y="17922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關聯與去重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22677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公司別名、代號、標題相似度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648456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785616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7901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776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模型分析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2519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情緒分類；有限量 Qwen 結構化解釋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145536" y="4453128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410712" y="3648456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7872" y="3785616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47872" y="37901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050792" y="3776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傳統面計算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42519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SMA、RSI、MACD、ATR、營收、估值、籌碼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53328" y="4453128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18504" y="3648456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55664" y="3785616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55664" y="37901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58584" y="3776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綜合與置頂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73952" y="42519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通過全部門檻後最多選 Top 5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961120" y="4453128"/>
            <a:ext cx="23774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226296" y="3648456"/>
            <a:ext cx="2624328" cy="1609344"/>
          </a:xfrm>
          <a:prstGeom prst="roundRect">
            <a:avLst>
              <a:gd name="adj" fmla="val 454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63456" y="3785616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63456" y="37901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866376" y="37764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鎖定並部署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381744" y="425196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latest.json、snapshot、GitHub Pages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58795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其中任何一個模型失效，資料仍可用規則備援產生；若全部價格失敗，腳本拒絕覆蓋舊資料。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MODELS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兩層開源模型，加上一層透明規則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不是所有文章都交給生成式模型；將昂貴步驟限制在最高關聯事件。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5504688" cy="960120"/>
          </a:xfrm>
          <a:prstGeom prst="roundRect">
            <a:avLst>
              <a:gd name="adj" fmla="val 7619"/>
            </a:avLst>
          </a:prstGeom>
          <a:solidFill>
            <a:srgbClr val="0D1D3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65376"/>
            <a:ext cx="530352" cy="530352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全量財經情緒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bardsai/finance-sentiment-zh-fast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2140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每則新聞判斷正向 / 中性 / 負向與信心。約 0.1B，適合 CPU 批次。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880360"/>
            <a:ext cx="5504688" cy="960120"/>
          </a:xfrm>
          <a:prstGeom prst="roundRect">
            <a:avLst>
              <a:gd name="adj" fmla="val 7619"/>
            </a:avLst>
          </a:prstGeom>
          <a:solidFill>
            <a:srgbClr val="0D1D3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081528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09067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高相關事件解釋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Qwen/Qwen3-0.6B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3375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只整理少量重點新聞，輸出作用機制、期間、類型與風險條件。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" y="4096512"/>
            <a:ext cx="5504688" cy="960120"/>
          </a:xfrm>
          <a:prstGeom prst="roundRect">
            <a:avLst>
              <a:gd name="adj" fmla="val 7619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297680"/>
            <a:ext cx="530352" cy="530352"/>
          </a:xfrm>
          <a:prstGeom prst="ellipse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306824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2153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透明規則備援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4215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transparent-rule-v2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537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詞彙權重、來源品質、公司關聯、時效衰減；模型失敗也能完成每日更新。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664208"/>
            <a:ext cx="5212080" cy="3401568"/>
          </a:xfrm>
          <a:prstGeom prst="roundRect">
            <a:avLst>
              <a:gd name="adj" fmla="val 2151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3.0497455854870615e+45" dist="1.3862479934032098e+45" dir="1.6325867520000003e+54">
              <a:srgbClr val="000000">
                <a:alpha val="2.2e+5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56832" y="1901952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22D3B6">
              <a:alpha val="16000"/>
            </a:srgbClr>
          </a:solidFill>
          <a:ln w="10160">
            <a:solidFill>
              <a:srgbClr val="22D3B6">
                <a:alpha val="42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90652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結構化事件輸出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2304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【示範】公司公布營運更新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656832" y="27889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84848" y="2862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+58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3182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影響分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74152" y="27889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02168" y="2862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87%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202168" y="3182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信心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91472" y="2788920"/>
            <a:ext cx="1261872" cy="713232"/>
          </a:xfrm>
          <a:prstGeom prst="roundRect">
            <a:avLst>
              <a:gd name="adj" fmla="val 10256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19488" y="286207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5-20D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9619488" y="3182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期間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37216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作用機制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398678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若訂單與產品組合改善，可能提高營收能見度與市場對獲利的預期；若需求遞延，正向效果會減弱。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675120" y="4663440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FB7185">
              <a:alpha val="16000"/>
            </a:srgbClr>
          </a:solidFill>
          <a:ln w="10160">
            <a:solidFill>
              <a:srgbClr val="FB7185">
                <a:alpha val="42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46680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市場已提前反映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85048" y="4663440"/>
            <a:ext cx="1408176" cy="256032"/>
          </a:xfrm>
          <a:prstGeom prst="roundRect">
            <a:avLst>
              <a:gd name="adj" fmla="val 28571"/>
            </a:avLst>
          </a:prstGeom>
          <a:solidFill>
            <a:srgbClr val="FB7185">
              <a:alpha val="16000"/>
            </a:srgbClr>
          </a:solidFill>
          <a:ln w="10160">
            <a:solidFill>
              <a:srgbClr val="FB7185">
                <a:alpha val="42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85048" y="466801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需求不如預期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574243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CC1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模型只提供結構化閱讀輔助；新聞正向不等於股價必然上漲。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SCORING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分數怎麼來：事件證據先加權，再和傳統面整合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所有權重位於設定檔，可追蹤、可修改、可用歷史資料重新校準。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A2630"/>
          </a:solidFill>
          <a:ln w="12700">
            <a:solidFill>
              <a:srgbClr val="175E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56232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事件貢獻 = 影響分 × 信心 × 公司關聯 × 來源品質 × 時效衰減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76856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新聞先去重，再做加權平均；不是同一消息轉載越多次，分數就越高。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035808"/>
            <a:ext cx="50292" cy="228600"/>
          </a:xfrm>
          <a:prstGeom prst="rect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90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綜合分預設權重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015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44752" y="3438144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3438144"/>
            <a:ext cx="3577917" cy="146304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34015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8404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44752" y="3877056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44752" y="3877056"/>
            <a:ext cx="2602121" cy="146304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8404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793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444752" y="4315968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44752" y="4315968"/>
            <a:ext cx="1626326" cy="1463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427939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1830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籌碼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44752" y="4754880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44752" y="4754880"/>
            <a:ext cx="1084217" cy="146304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47183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1572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444752" y="5193792"/>
            <a:ext cx="3794760" cy="146304"/>
          </a:xfrm>
          <a:prstGeom prst="roundRect">
            <a:avLst>
              <a:gd name="adj" fmla="val 25000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4752" y="5193792"/>
            <a:ext cx="867374" cy="146304"/>
          </a:xfrm>
          <a:prstGeom prst="roundRect">
            <a:avLst>
              <a:gd name="adj" fmla="val 25000"/>
            </a:avLst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49240" y="51572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73952" y="1664208"/>
            <a:ext cx="5138928" cy="4023360"/>
          </a:xfrm>
          <a:prstGeom prst="roundRect">
            <a:avLst>
              <a:gd name="adj" fmla="val 181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3.873176893568568e+49" dist="1.7605349516220764e+49" dir="9.795520512000002e+58">
              <a:srgbClr val="000000">
                <a:alpha val="2.2e+59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48272" y="19202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置頂不只看總分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48272" y="251460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0D1D31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31152" y="26243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資料完整度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261518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58%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48272" y="3172968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0D1D31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31152" y="32826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風險分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327355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≤ 72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48272" y="3831336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0D1D3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31152" y="39410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新聞平均關聯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39319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0.55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48272" y="4489704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31152" y="45994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排序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45902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綜合分 → 新聞分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12280" y="52760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風險採負向折扣 18%；缺資料不會被當成「沒事」。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DAILY PICKS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每日最佳自動置頂：先過門檻，再比排序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目的不是發出買進指令，而是把有限研究時間集中到證據最完整的標的。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4632" y="1527048"/>
            <a:ext cx="7726680" cy="4617720"/>
          </a:xfrm>
          <a:prstGeom prst="roundRect">
            <a:avLst>
              <a:gd name="adj" fmla="val 1584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4.918934654832081e+53" dist="2.235879388560037e+53" dir="5.877312307200001e+63">
              <a:srgbClr val="000000">
                <a:alpha val="2.2e+64"/>
              </a:srgbClr>
            </a:outerShdw>
          </a:effectLst>
        </p:spPr>
      </p:sp>
      <p:pic>
        <p:nvPicPr>
          <p:cNvPr id="6" name="Image 0" descr="/mnt/data/stocklab-free-ai-v14/assets/screenshots/daily.png">    </p:cNvPr>
          <p:cNvPicPr>
            <a:picLocks noChangeAspect="1"/>
          </p:cNvPicPr>
          <p:nvPr/>
        </p:nvPicPr>
        <p:blipFill>
          <a:blip r:embed="rId1"/>
          <a:srcRect l="0" r="-31201" t="0" b="39164"/>
          <a:stretch/>
        </p:blipFill>
        <p:spPr>
          <a:xfrm>
            <a:off x="530352" y="1572768"/>
            <a:ext cx="7635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85632" y="1572768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6.247047011636743e+57" dist="2.839566823471247e+57" dir="3.526387384320001e+68">
              <a:srgbClr val="000000">
                <a:alpha val="2.2e+69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84708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59E0B">
              <a:alpha val="16000"/>
            </a:srgbClr>
          </a:solidFill>
          <a:ln w="10160">
            <a:solidFill>
              <a:srgbClr val="F59E0B">
                <a:alpha val="42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8516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置頂規則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32520" y="2331720"/>
            <a:ext cx="260604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每日最多 5 檔，數量可設定。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顯示入選理由、完整度與主要風險。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高總分但風險過高者不直接置頂。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有新聞時需達公司關聯門檻。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候選不足才用綜合分遞補。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732520" y="480060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0A2630"/>
          </a:solidFill>
          <a:ln w="12700">
            <a:solidFill>
              <a:srgbClr val="175E6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87968" y="496519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首頁永遠先看 Top 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完整排名仍保留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傳統面補全：不讓 AI 新聞分數孤立運作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同一頁整合技術、基本、籌碼、估值、風險與資料血緣。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78808" y="1527048"/>
            <a:ext cx="7498080" cy="4754880"/>
          </a:xfrm>
          <a:prstGeom prst="roundRect">
            <a:avLst>
              <a:gd name="adj" fmla="val 1538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7.933749704778664e+61" dist="3.606249865808484e+61" dir="2.1158324305920003e+73">
              <a:srgbClr val="000000">
                <a:alpha val="2.2e+74"/>
              </a:srgbClr>
            </a:outerShdw>
          </a:effectLst>
        </p:spPr>
      </p:sp>
      <p:pic>
        <p:nvPicPr>
          <p:cNvPr id="6" name="Image 0" descr="/mnt/data/stocklab-free-ai-v14/assets/screenshots/traditional.png">    </p:cNvPr>
          <p:cNvPicPr>
            <a:picLocks noChangeAspect="1"/>
          </p:cNvPicPr>
          <p:nvPr/>
        </p:nvPicPr>
        <p:blipFill>
          <a:blip r:embed="rId1"/>
          <a:srcRect l="0" r="-26838" t="0" b="46312"/>
          <a:stretch/>
        </p:blipFill>
        <p:spPr>
          <a:xfrm>
            <a:off x="4224528" y="1572768"/>
            <a:ext cx="740664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691640"/>
            <a:ext cx="3328416" cy="658368"/>
          </a:xfrm>
          <a:prstGeom prst="roundRect">
            <a:avLst>
              <a:gd name="adj" fmla="val 11111"/>
            </a:avLst>
          </a:prstGeom>
          <a:solidFill>
            <a:srgbClr val="0D1D3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180136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179222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SMA / EMA / RSI / MACD / KD / ATR / 量比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30352" y="2551176"/>
            <a:ext cx="3328416" cy="658368"/>
          </a:xfrm>
          <a:prstGeom prst="roundRect">
            <a:avLst>
              <a:gd name="adj" fmla="val 11111"/>
            </a:avLst>
          </a:prstGeom>
          <a:solidFill>
            <a:srgbClr val="0D1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6609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53312" y="265176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月營收、YoY、MoM、本益比、PB、殖利率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30352" y="3410712"/>
            <a:ext cx="3328416" cy="658368"/>
          </a:xfrm>
          <a:prstGeom prst="roundRect">
            <a:avLst>
              <a:gd name="adj" fmla="val 11111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5204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籌碼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53312" y="351129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外資、投信、自營商、三大法人合計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30352" y="4270248"/>
            <a:ext cx="3328416" cy="658368"/>
          </a:xfrm>
          <a:prstGeom prst="roundRect">
            <a:avLst>
              <a:gd name="adj" fmla="val 11111"/>
            </a:avLst>
          </a:prstGeom>
          <a:solidFill>
            <a:srgbClr val="0D1D31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37997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53312" y="4370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波動、超買、估值、負面事件、來源品質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30352" y="5129784"/>
            <a:ext cx="3328416" cy="658368"/>
          </a:xfrm>
          <a:prstGeom prst="roundRect">
            <a:avLst>
              <a:gd name="adj" fmla="val 11111"/>
            </a:avLst>
          </a:prstGeom>
          <a:solidFill>
            <a:srgbClr val="0D1D3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5239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資料治理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53312" y="523036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source、published_at、available_at、fetched_at</a:t>
            </a:r>
            <a:endParaRPr lang="en-US" sz="108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84301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CC1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歷史模式找不到真正 archive 時，欄位顯示未取得，不用今天資料倒填。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FAVORITES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我的最愛：本機優先，Google Sheets 跨裝置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不需要 Firebase、不需要帳號伺服器；適合個人低敏感度股票書籤與備註。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4632" y="1536192"/>
            <a:ext cx="5504688" cy="3291840"/>
          </a:xfrm>
          <a:prstGeom prst="roundRect">
            <a:avLst>
              <a:gd name="adj" fmla="val 2222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1.0075862125068903e+66" dist="4.579937329576775e+65" dir="1.2694994583552002e+78">
              <a:srgbClr val="000000">
                <a:alpha val="2.2000000000000002e+79"/>
              </a:srgbClr>
            </a:outerShdw>
          </a:effectLst>
        </p:spPr>
      </p:sp>
      <p:pic>
        <p:nvPicPr>
          <p:cNvPr id="6" name="Image 0" descr="/mnt/data/stocklab-free-ai-v14/assets/screenshots/favorites.png">    </p:cNvPr>
          <p:cNvPicPr>
            <a:picLocks noChangeAspect="1"/>
          </p:cNvPicPr>
          <p:nvPr/>
        </p:nvPicPr>
        <p:blipFill>
          <a:blip r:embed="rId1"/>
          <a:srcRect l="0" r="-8063" t="0" b="8000"/>
          <a:stretch/>
        </p:blipFill>
        <p:spPr>
          <a:xfrm>
            <a:off x="530352" y="1581912"/>
            <a:ext cx="5413248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0488" y="1536192"/>
            <a:ext cx="5504688" cy="3291840"/>
          </a:xfrm>
          <a:prstGeom prst="roundRect">
            <a:avLst>
              <a:gd name="adj" fmla="val 2222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1.2796344898837507e+70" dist="5.816520408562504e+69" dir="7.616996750131201e+82">
              <a:srgbClr val="000000">
                <a:alpha val="2.2000000000000003e+84"/>
              </a:srgbClr>
            </a:outerShdw>
          </a:effectLst>
        </p:spPr>
      </p:sp>
      <p:pic>
        <p:nvPicPr>
          <p:cNvPr id="8" name="Image 1" descr="/mnt/data/stocklab-free-ai-v14/assets/screenshots/settings.png">    </p:cNvPr>
          <p:cNvPicPr>
            <a:picLocks noChangeAspect="1"/>
          </p:cNvPicPr>
          <p:nvPr/>
        </p:nvPicPr>
        <p:blipFill>
          <a:blip r:embed="rId2"/>
          <a:srcRect l="0" r="-8063" t="0" b="8000"/>
          <a:stretch/>
        </p:blipFill>
        <p:spPr>
          <a:xfrm>
            <a:off x="6236208" y="1581912"/>
            <a:ext cx="5413248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232" y="5074920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1025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4672" y="52303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" y="5234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51937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 / 移除 / 備註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3209544" y="5422392"/>
            <a:ext cx="28346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566160" y="5074920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1025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57600" y="5230368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57600" y="5234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133088" y="51937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先寫 localStorage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6062472" y="5422392"/>
            <a:ext cx="28346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419088" y="5074920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10253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10528" y="523036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10528" y="5234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986016" y="51937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JSONP 同步 Apps Script</a:t>
            </a:r>
            <a:endParaRPr lang="en-US" sz="1180" dirty="0"/>
          </a:p>
        </p:txBody>
      </p:sp>
      <p:sp>
        <p:nvSpPr>
          <p:cNvPr id="23" name="Shape 19"/>
          <p:cNvSpPr/>
          <p:nvPr/>
        </p:nvSpPr>
        <p:spPr>
          <a:xfrm>
            <a:off x="8915400" y="5422392"/>
            <a:ext cx="283464" cy="0"/>
          </a:xfrm>
          <a:prstGeom prst="line">
            <a:avLst/>
          </a:prstGeom>
          <a:noFill/>
          <a:ln w="22860">
            <a:solidFill>
              <a:srgbClr val="1E3A56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9272016" y="5074920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1025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363456" y="5230368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363456" y="5234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838944" y="519379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寫入自己的 Google Sheet</a:t>
            </a:r>
            <a:endParaRPr lang="en-US" sz="1180" dirty="0"/>
          </a:p>
        </p:txBody>
      </p:sp>
      <p:sp>
        <p:nvSpPr>
          <p:cNvPr id="28" name="Text 24"/>
          <p:cNvSpPr txBox="1"/>
          <p:nvPr/>
        </p:nvSpPr>
        <p:spPr>
          <a:xfrm>
            <a:off x="658368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FACC1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限制：這不是完整 OAuth 會員系統；同步金鑰只適合低敏感度書籤，不能保存交易或個資。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POINT-IN-TIME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歷史驗證：先鎖定預測，之後才揭曉答案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2025-08-15 範例預設不包含該日之後的實際報酬、命中與價格。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760720" y="1536192"/>
            <a:ext cx="5925312" cy="4370832"/>
          </a:xfrm>
          <a:prstGeom prst="roundRect">
            <a:avLst>
              <a:gd name="adj" fmla="val 1674"/>
            </a:avLst>
          </a:prstGeom>
          <a:solidFill>
            <a:srgbClr val="091827"/>
          </a:solidFill>
          <a:ln w="12700">
            <a:solidFill>
              <a:srgbClr val="244760"/>
            </a:solidFill>
            <a:prstDash val="solid"/>
          </a:ln>
          <a:effectLst>
            <a:outerShdw sx="100000" sy="100000" kx="0" ky="0" algn="bl" rotWithShape="0" blurRad="1.6251358021523632e+74" dist="7.38698091887438e+73" dir="4.57019805007872e+87">
              <a:srgbClr val="000000">
                <a:alpha val="2.2000000000000003e+89"/>
              </a:srgbClr>
            </a:outerShdw>
          </a:effectLst>
        </p:spPr>
      </p:sp>
      <p:pic>
        <p:nvPicPr>
          <p:cNvPr id="6" name="Image 0" descr="/mnt/data/stocklab-free-ai-v14/assets/screenshots/validation.png">    </p:cNvPr>
          <p:cNvPicPr>
            <a:picLocks noChangeAspect="1"/>
          </p:cNvPicPr>
          <p:nvPr/>
        </p:nvPicPr>
        <p:blipFill>
          <a:blip r:embed="rId1"/>
          <a:srcRect l="0" r="-6030" t="0" b="32934"/>
          <a:stretch/>
        </p:blipFill>
        <p:spPr>
          <a:xfrm>
            <a:off x="5806440" y="1581912"/>
            <a:ext cx="5833872" cy="4279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581912"/>
            <a:ext cx="4919472" cy="1481328"/>
          </a:xfrm>
          <a:prstGeom prst="roundRect">
            <a:avLst>
              <a:gd name="adj" fmla="val 4938"/>
            </a:avLst>
          </a:prstGeom>
          <a:solidFill>
            <a:srgbClr val="10253C"/>
          </a:solidFill>
          <a:ln w="12700">
            <a:solidFill>
              <a:srgbClr val="22D3B6"/>
            </a:solidFill>
            <a:prstDash val="solid"/>
          </a:ln>
          <a:effectLst>
            <a:outerShdw sx="100000" sy="100000" kx="0" ky="0" algn="bl" rotWithShape="0" blurRad="2.0639224687335015e+78" dist="9.381465766970462e+77" dir="2.742118830047232e+92">
              <a:srgbClr val="000000">
                <a:alpha val="2.2e+94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1819656"/>
            <a:ext cx="530352" cy="530352"/>
          </a:xfrm>
          <a:prstGeom prst="ellipse">
            <a:avLst/>
          </a:prstGeom>
          <a:solidFill>
            <a:srgbClr val="22D3B6">
              <a:alpha val="16000"/>
            </a:srgbClr>
          </a:solidFill>
          <a:ln w="12700">
            <a:solidFill>
              <a:srgbClr val="22D3B6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82880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🔒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44752" y="17373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Snapshot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44752" y="2130552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輸入、特徵、分數、預測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available_at ≤ 切點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0352" y="3364992"/>
            <a:ext cx="4919472" cy="1481328"/>
          </a:xfrm>
          <a:prstGeom prst="roundRect">
            <a:avLst>
              <a:gd name="adj" fmla="val 4938"/>
            </a:avLst>
          </a:prstGeom>
          <a:solidFill>
            <a:srgbClr val="10253C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2.6211815352915468e+82" dist="1.1914461524052487e+82" dir="1.6452712980283393e+97">
              <a:srgbClr val="000000">
                <a:alpha val="2.2000000000000003e+9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3602736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61188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44752" y="3520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Result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44752" y="391363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actual_return、direction_hit、Brier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只有明確 --reveal 才另檔產生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990088" y="3063240"/>
            <a:ext cx="0" cy="301752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9808" y="5202936"/>
            <a:ext cx="4462272" cy="585216"/>
          </a:xfrm>
          <a:prstGeom prst="roundRect">
            <a:avLst>
              <a:gd name="adj" fmla="val 12500"/>
            </a:avLst>
          </a:prstGeom>
          <a:solidFill>
            <a:srgbClr val="2A1E1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53492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會拒絕未來日期與答案欄位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95274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回溯建立仍會標示 retrospective；真正前瞻驗證需從現在開始每日保存不可變快照。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可信度不是看一個日期有沒有漲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應用 walk-forward、校準、分桶與交易成本後結果，檢查模型在不同市場條件下是否穩定。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方向命中率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93392" y="17556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預測方向 vs. 實際方向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52544" y="162763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Brier Score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7556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上漲機率是否校準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174736" y="162763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17556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/ 5 / 20 日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37776" y="17556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不同作用期間的報酬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30352" y="286207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29900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異常報酬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993392" y="299008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 0050 或市場基準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352544" y="286207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9900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分桶分析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15584" y="299008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依分數、來源、產業、信心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174736" y="2862072"/>
            <a:ext cx="3493008" cy="987552"/>
          </a:xfrm>
          <a:prstGeom prst="roundRect">
            <a:avLst>
              <a:gd name="adj" fmla="val 7407"/>
            </a:avLst>
          </a:prstGeom>
          <a:solidFill>
            <a:srgbClr val="0D1D31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9328" y="29900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風險績效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37776" y="299008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成本後報酬、最大回撤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30352" y="4315968"/>
            <a:ext cx="5303520" cy="1353312"/>
          </a:xfrm>
          <a:prstGeom prst="roundRect">
            <a:avLst>
              <a:gd name="adj" fmla="val 540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3.3289005498202646e+86" dist="1.5131366135546659e+86" dir="9.871627788170037e+101">
              <a:srgbClr val="000000">
                <a:alpha val="2.2000000000000003e+10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562856"/>
            <a:ext cx="50292" cy="228600"/>
          </a:xfrm>
          <a:prstGeom prst="rect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5171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Walk-forward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82896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先用較早期間校準 → 凍結規則 → 測試下一段未見資料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禁止看完整年度答案後再回頭調權重。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144768" y="4315968"/>
            <a:ext cx="5486400" cy="1353312"/>
          </a:xfrm>
          <a:prstGeom prst="roundRect">
            <a:avLst>
              <a:gd name="adj" fmla="val 5405"/>
            </a:avLst>
          </a:prstGeom>
          <a:solidFill>
            <a:srgbClr val="291A21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4.227703698271736e+90" dist="1.9216834992144256e+90" dir="5.9229766729020215e+106">
              <a:srgbClr val="000000">
                <a:alpha val="2.2000000000000003e+10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64224" y="4562856"/>
            <a:ext cx="50292" cy="2286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83096" y="45171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本簡報刻意不揭露 2025-08-15 後答案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48828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範例只展示系統如何鎖定當時預測；結果必須由使用者主動 reveal，避免報告本身偷看未來。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參考網站去蕪存菁：保留好用操作，補上證據與驗證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不複製外觀或單一分數，而是把使用者真正需要的快速閱讀流程保留下來。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參考網站優點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87952" y="1600200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69164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新版保留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45552" y="1600200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169164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StockLab v14 升級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2221992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295144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快速健康度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187952" y="2221992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295144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保留總覽與排名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845552" y="2221992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295144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拆成 6 個分項 + 風險 + 完整度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30352" y="2825496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9864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條件篩選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187952" y="2825496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289864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 AND 條件與預設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845552" y="2825496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289864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加入新聞分、外資、量比、風險門檻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30352" y="3429000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502152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技術與籌碼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4187952" y="3429000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3502152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保留指標卡與支撐壓力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845552" y="3429000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502152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加入資料血緣與 point-in-time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30352" y="4032504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105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收藏功能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187952" y="4032504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0" y="4105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保留快速收藏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845552" y="4032504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0" y="410565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localStorage + Google Sheets 跨裝置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30352" y="4636008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70916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歷史/排名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4187952" y="4636008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97680" y="470916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保留歷史切換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7845552" y="4636008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A1828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55280" y="4709160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snapshot / result 分離與 validator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30352" y="5239512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312664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綜合分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4187952" y="5239512"/>
            <a:ext cx="33375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0" y="5312664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保留一頁式閱讀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7845552" y="5239512"/>
            <a:ext cx="3794760" cy="493776"/>
          </a:xfrm>
          <a:prstGeom prst="roundRect">
            <a:avLst>
              <a:gd name="adj" fmla="val 14815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55280" y="5312664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逐則新聞證據、信心、機制與失效條件</a:t>
            </a:r>
            <a:endParaRPr lang="en-US" sz="112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0167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差異化重點：新聞不是旁邊多一個情緒標籤，而是整個排序與驗證系統的可追蹤證據。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DEPLOY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部署到 GitHub：不需要 Node build，也不需要伺服器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 ZIP 內容放到 Repository 根目錄，啟用 Actions 與 Pages 即可。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67335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779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600200"/>
            <a:ext cx="5687568" cy="640080"/>
          </a:xfrm>
          <a:prstGeom prst="roundRect">
            <a:avLst>
              <a:gd name="adj" fmla="val 11429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9888" y="169164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Public Repository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419856" y="169164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 repo 最安全；既有 stocklab 先建備份分支。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1792" y="2505456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1002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432304"/>
            <a:ext cx="5687568" cy="640080"/>
          </a:xfrm>
          <a:prstGeom prst="roundRect">
            <a:avLst>
              <a:gd name="adj" fmla="val 11429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89888" y="252374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上傳整包檔案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419856" y="252374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 .github/workflows 隱藏資料夾也已提交。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21792" y="3337560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3421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8720" y="3264408"/>
            <a:ext cx="5687568" cy="640080"/>
          </a:xfrm>
          <a:prstGeom prst="roundRect">
            <a:avLst>
              <a:gd name="adj" fmla="val 11429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89888" y="335584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Pages 選 GitHub Actions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419856" y="335584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pages.yml 直接部署 Repository 根目錄。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1792" y="4169664"/>
            <a:ext cx="384048" cy="384048"/>
          </a:xfrm>
          <a:prstGeom prst="ellipse">
            <a:avLst/>
          </a:prstGeom>
          <a:solidFill>
            <a:srgbClr val="22D3B6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1742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096512"/>
            <a:ext cx="5687568" cy="640080"/>
          </a:xfrm>
          <a:prstGeom prst="roundRect">
            <a:avLst>
              <a:gd name="adj" fmla="val 11429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89888" y="418795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允許 workflow 寫入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3419856" y="41879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daily-update.yml 需要提交新的 data JSON。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1792" y="50017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5006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88720" y="4928616"/>
            <a:ext cx="5687568" cy="640080"/>
          </a:xfrm>
          <a:prstGeom prst="roundRect">
            <a:avLst>
              <a:gd name="adj" fmla="val 11429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89888" y="50200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手動跑第一次每日更新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3419856" y="5020056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模型下載、資料抓取、測試、commit、Pages 重部署。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7333488" y="1600200"/>
            <a:ext cx="4297680" cy="4315968"/>
          </a:xfrm>
          <a:prstGeom prst="roundRect">
            <a:avLst>
              <a:gd name="adj" fmla="val 1702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5.369183696805105e+94" dist="2.4405380440023207e+94" dir="3.553786003741213e+111">
              <a:srgbClr val="000000">
                <a:alpha val="2.2000000000000003e+11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26096" y="1865376"/>
            <a:ext cx="1444752" cy="256032"/>
          </a:xfrm>
          <a:prstGeom prst="roundRect">
            <a:avLst>
              <a:gd name="adj" fmla="val 28571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26096" y="186994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內建 workflows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07808" y="2359152"/>
            <a:ext cx="3730752" cy="530352"/>
          </a:xfrm>
          <a:prstGeom prst="roundRect">
            <a:avLst>
              <a:gd name="adj" fmla="val 13793"/>
            </a:avLst>
          </a:prstGeom>
          <a:solidFill>
            <a:srgbClr val="0D1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54112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daily-update.yml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243230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每日抓取、模型、置頂、commit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607808" y="3054096"/>
            <a:ext cx="3730752" cy="530352"/>
          </a:xfrm>
          <a:prstGeom prst="roundRect">
            <a:avLst>
              <a:gd name="adj" fmla="val 13793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54112" y="31272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pages.yml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31272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push / 資料 workflow 完成後部署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7607808" y="3749040"/>
            <a:ext cx="3730752" cy="530352"/>
          </a:xfrm>
          <a:prstGeom prst="roundRect">
            <a:avLst>
              <a:gd name="adj" fmla="val 13793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54112" y="38221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historical-backfill.yml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382219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指定日期 snapshot / 可選 reveal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7607808" y="4443984"/>
            <a:ext cx="3730752" cy="530352"/>
          </a:xfrm>
          <a:prstGeom prst="roundRect">
            <a:avLst>
              <a:gd name="adj" fmla="val 13793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54112" y="45171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quality.yml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189720" y="4517136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JSON、JS、pytest、no-leak</a:t>
            </a:r>
            <a:endParaRPr lang="en-US" sz="960" dirty="0"/>
          </a:p>
        </p:txBody>
      </p:sp>
      <p:sp>
        <p:nvSpPr>
          <p:cNvPr id="45" name="Text 43"/>
          <p:cNvSpPr txBox="1"/>
          <p:nvPr/>
        </p:nvSpPr>
        <p:spPr>
          <a:xfrm>
            <a:off x="7626096" y="53583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ACC1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排程直接指定 Asia/Taipei 工作日 18:20；GitHub 仍可能延遲，長期無活動也需留意停用。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FREE OPERATIONS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免費不等於沒有邊界：用降級策略把風險變成可管理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核心原則是「任何付費服務都不是必要依賴」。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69164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元件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2542032" cy="457200"/>
          </a:xfrm>
          <a:prstGeom prst="roundRect">
            <a:avLst>
              <a:gd name="adj" fmla="val 16000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69164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免費方案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486400" y="1600200"/>
            <a:ext cx="1700784" cy="457200"/>
          </a:xfrm>
          <a:prstGeom prst="roundRect">
            <a:avLst>
              <a:gd name="adj" fmla="val 16000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59552" y="1691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固定費用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06640" y="16002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79792" y="169164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528048" y="1600200"/>
            <a:ext cx="2121408" cy="457200"/>
          </a:xfrm>
          <a:prstGeom prst="roundRect">
            <a:avLst>
              <a:gd name="adj" fmla="val 16000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0" y="169164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主要限制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30352" y="2167128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" y="22311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網站</a:t>
            </a:r>
            <a:endParaRPr lang="en-US" sz="990" dirty="0"/>
          </a:p>
        </p:txBody>
      </p:sp>
      <p:sp>
        <p:nvSpPr>
          <p:cNvPr id="17" name="Shape 15"/>
          <p:cNvSpPr/>
          <p:nvPr/>
        </p:nvSpPr>
        <p:spPr>
          <a:xfrm>
            <a:off x="2761488" y="2167128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22311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Pages</a:t>
            </a:r>
            <a:endParaRPr lang="en-US" sz="990" dirty="0"/>
          </a:p>
        </p:txBody>
      </p:sp>
      <p:sp>
        <p:nvSpPr>
          <p:cNvPr id="19" name="Shape 17"/>
          <p:cNvSpPr/>
          <p:nvPr/>
        </p:nvSpPr>
        <p:spPr>
          <a:xfrm>
            <a:off x="5486400" y="2167128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59552" y="2231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06640" y="216712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9792" y="223113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 repo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9528048" y="2167128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0" y="22311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依平台條款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530352" y="2697480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" y="27614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2761488" y="2697480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276148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Actions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5486400" y="2697480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59552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2697480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79792" y="276148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 repo / 額度與政策內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9528048" y="2697480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0" y="27614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 repo / 額度與政策內</a:t>
            </a:r>
            <a:endParaRPr lang="en-US" sz="990" dirty="0"/>
          </a:p>
        </p:txBody>
      </p:sp>
      <p:sp>
        <p:nvSpPr>
          <p:cNvPr id="35" name="Shape 33"/>
          <p:cNvSpPr/>
          <p:nvPr/>
        </p:nvSpPr>
        <p:spPr>
          <a:xfrm>
            <a:off x="530352" y="3227832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3504" y="32918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</a:t>
            </a:r>
            <a:endParaRPr lang="en-US" sz="990" dirty="0"/>
          </a:p>
        </p:txBody>
      </p:sp>
      <p:sp>
        <p:nvSpPr>
          <p:cNvPr id="37" name="Shape 35"/>
          <p:cNvSpPr/>
          <p:nvPr/>
        </p:nvSpPr>
        <p:spPr>
          <a:xfrm>
            <a:off x="2761488" y="3227832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3464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HF 權重本機推論</a:t>
            </a:r>
            <a:endParaRPr lang="en-US" sz="990" dirty="0"/>
          </a:p>
        </p:txBody>
      </p:sp>
      <p:sp>
        <p:nvSpPr>
          <p:cNvPr id="39" name="Shape 37"/>
          <p:cNvSpPr/>
          <p:nvPr/>
        </p:nvSpPr>
        <p:spPr>
          <a:xfrm>
            <a:off x="5486400" y="3227832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59552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406640" y="3227832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79792" y="32918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首次下載較久</a:t>
            </a:r>
            <a:endParaRPr lang="en-US" sz="990" dirty="0"/>
          </a:p>
        </p:txBody>
      </p:sp>
      <p:sp>
        <p:nvSpPr>
          <p:cNvPr id="43" name="Shape 41"/>
          <p:cNvSpPr/>
          <p:nvPr/>
        </p:nvSpPr>
        <p:spPr>
          <a:xfrm>
            <a:off x="9528048" y="3227832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01200" y="32918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CPU 速度有限</a:t>
            </a:r>
            <a:endParaRPr lang="en-US" sz="990" dirty="0"/>
          </a:p>
        </p:txBody>
      </p:sp>
      <p:sp>
        <p:nvSpPr>
          <p:cNvPr id="45" name="Shape 43"/>
          <p:cNvSpPr/>
          <p:nvPr/>
        </p:nvSpPr>
        <p:spPr>
          <a:xfrm>
            <a:off x="530352" y="3758184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3504" y="38221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</a:t>
            </a:r>
            <a:endParaRPr lang="en-US" sz="990" dirty="0"/>
          </a:p>
        </p:txBody>
      </p:sp>
      <p:sp>
        <p:nvSpPr>
          <p:cNvPr id="47" name="Shape 45"/>
          <p:cNvSpPr/>
          <p:nvPr/>
        </p:nvSpPr>
        <p:spPr>
          <a:xfrm>
            <a:off x="2761488" y="3758184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34640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 / GDELT / TWSE</a:t>
            </a:r>
            <a:endParaRPr lang="en-US" sz="990" dirty="0"/>
          </a:p>
        </p:txBody>
      </p:sp>
      <p:sp>
        <p:nvSpPr>
          <p:cNvPr id="49" name="Shape 47"/>
          <p:cNvSpPr/>
          <p:nvPr/>
        </p:nvSpPr>
        <p:spPr>
          <a:xfrm>
            <a:off x="5486400" y="3758184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559552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406640" y="3758184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79792" y="382219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端點可能延遲、限流或改版</a:t>
            </a:r>
            <a:endParaRPr lang="en-US" sz="990" dirty="0"/>
          </a:p>
        </p:txBody>
      </p:sp>
      <p:sp>
        <p:nvSpPr>
          <p:cNvPr id="53" name="Shape 51"/>
          <p:cNvSpPr/>
          <p:nvPr/>
        </p:nvSpPr>
        <p:spPr>
          <a:xfrm>
            <a:off x="9528048" y="3758184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01200" y="38221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端點可能延遲、限流或改版</a:t>
            </a:r>
            <a:endParaRPr lang="en-US" sz="990" dirty="0"/>
          </a:p>
        </p:txBody>
      </p:sp>
      <p:sp>
        <p:nvSpPr>
          <p:cNvPr id="55" name="Shape 53"/>
          <p:cNvSpPr/>
          <p:nvPr/>
        </p:nvSpPr>
        <p:spPr>
          <a:xfrm>
            <a:off x="530352" y="4288536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03504" y="43525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最愛</a:t>
            </a:r>
            <a:endParaRPr lang="en-US" sz="990" dirty="0"/>
          </a:p>
        </p:txBody>
      </p:sp>
      <p:sp>
        <p:nvSpPr>
          <p:cNvPr id="57" name="Shape 55"/>
          <p:cNvSpPr/>
          <p:nvPr/>
        </p:nvSpPr>
        <p:spPr>
          <a:xfrm>
            <a:off x="2761488" y="4288536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34640" y="4352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Apps Script + Sheets</a:t>
            </a:r>
            <a:endParaRPr lang="en-US" sz="990" dirty="0"/>
          </a:p>
        </p:txBody>
      </p:sp>
      <p:sp>
        <p:nvSpPr>
          <p:cNvPr id="59" name="Shape 57"/>
          <p:cNvSpPr/>
          <p:nvPr/>
        </p:nvSpPr>
        <p:spPr>
          <a:xfrm>
            <a:off x="5486400" y="4288536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559552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406640" y="428853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79792" y="4352544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個人配額</a:t>
            </a:r>
            <a:endParaRPr lang="en-US" sz="990" dirty="0"/>
          </a:p>
        </p:txBody>
      </p:sp>
      <p:sp>
        <p:nvSpPr>
          <p:cNvPr id="63" name="Shape 61"/>
          <p:cNvSpPr/>
          <p:nvPr/>
        </p:nvSpPr>
        <p:spPr>
          <a:xfrm>
            <a:off x="9528048" y="4288536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601200" y="435254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非正式會員系統</a:t>
            </a:r>
            <a:endParaRPr lang="en-US" sz="990" dirty="0"/>
          </a:p>
        </p:txBody>
      </p:sp>
      <p:sp>
        <p:nvSpPr>
          <p:cNvPr id="65" name="Shape 63"/>
          <p:cNvSpPr/>
          <p:nvPr/>
        </p:nvSpPr>
        <p:spPr>
          <a:xfrm>
            <a:off x="530352" y="4818888"/>
            <a:ext cx="20848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3504" y="48828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回填</a:t>
            </a:r>
            <a:endParaRPr lang="en-US" sz="990" dirty="0"/>
          </a:p>
        </p:txBody>
      </p:sp>
      <p:sp>
        <p:nvSpPr>
          <p:cNvPr id="67" name="Shape 65"/>
          <p:cNvSpPr/>
          <p:nvPr/>
        </p:nvSpPr>
        <p:spPr>
          <a:xfrm>
            <a:off x="2761488" y="4818888"/>
            <a:ext cx="2542032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34640" y="48828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Kaggle Notebook 選用</a:t>
            </a:r>
            <a:endParaRPr lang="en-US" sz="990" dirty="0"/>
          </a:p>
        </p:txBody>
      </p:sp>
      <p:sp>
        <p:nvSpPr>
          <p:cNvPr id="69" name="Shape 67"/>
          <p:cNvSpPr/>
          <p:nvPr/>
        </p:nvSpPr>
        <p:spPr>
          <a:xfrm>
            <a:off x="5486400" y="4818888"/>
            <a:ext cx="1700784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559552" y="4882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NT$0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7406640" y="481888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79792" y="488289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 GPU 額度與執行限制</a:t>
            </a:r>
            <a:endParaRPr lang="en-US" sz="990" dirty="0"/>
          </a:p>
        </p:txBody>
      </p:sp>
      <p:sp>
        <p:nvSpPr>
          <p:cNvPr id="73" name="Shape 71"/>
          <p:cNvSpPr/>
          <p:nvPr/>
        </p:nvSpPr>
        <p:spPr>
          <a:xfrm>
            <a:off x="9528048" y="4818888"/>
            <a:ext cx="2121408" cy="438912"/>
          </a:xfrm>
          <a:prstGeom prst="roundRect">
            <a:avLst>
              <a:gd name="adj" fmla="val 16667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601200" y="488289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免費 GPU 額度與執行限制</a:t>
            </a:r>
            <a:endParaRPr lang="en-US" sz="990" dirty="0"/>
          </a:p>
        </p:txBody>
      </p:sp>
      <p:sp>
        <p:nvSpPr>
          <p:cNvPr id="75" name="Shape 73"/>
          <p:cNvSpPr/>
          <p:nvPr/>
        </p:nvSpPr>
        <p:spPr>
          <a:xfrm>
            <a:off x="658368" y="56692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2A1E1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59536" y="5797296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Qwen 太慢 → skip_qwen；情緒模型失敗 → 規則；Apps Script 失效 → localStorage；全部價格失敗 → 不覆蓋舊資料。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HANDOFF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交付不是單一網頁，而是一套可維護專案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程式、設定、資料、模型策略、Apps Script、工作流程、測試與說明全部放在同一包。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5577840" cy="4407408"/>
          </a:xfrm>
          <a:prstGeom prst="roundRect">
            <a:avLst>
              <a:gd name="adj" fmla="val 1660"/>
            </a:avLst>
          </a:prstGeom>
          <a:solidFill>
            <a:srgbClr val="081827"/>
          </a:solidFill>
          <a:ln w="12700">
            <a:solidFill>
              <a:srgbClr val="1E3A56"/>
            </a:solidFill>
            <a:prstDash val="solid"/>
          </a:ln>
          <a:effectLst>
            <a:outerShdw sx="100000" sy="100000" kx="0" ky="0" algn="bl" rotWithShape="0" blurRad="6.818863294942483e+98" dist="3.099483315882947e+98" dir="2.1322716022447277e+116">
              <a:srgbClr val="000000">
                <a:alpha val="2.2000000000000005e+119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501091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stocklab-free-ai-v14/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index.html + assets/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config/stocks.json + settings.json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data/latest.json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data/snapshots/ + results/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scripts/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│  ├─ news_sources.py / market_sources.py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│  ├─ ai_analysis.py / scoring.py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│  ├─ update_daily.py / backtest.py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│  └─ validate_no_leak.py / quality_check.py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google-apps-script/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notebooks/StockLab_Backfill_Kaggle.ipynb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├─ tests/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C9D8E9"/>
                </a:solidFill>
                <a:latin typeface="Noto Sans Mono CJK TC" pitchFamily="34" charset="0"/>
                <a:ea typeface="Noto Sans Mono CJK TC" pitchFamily="34" charset="-122"/>
                <a:cs typeface="Noto Sans Mono CJK TC" pitchFamily="34" charset="-120"/>
              </a:rPr>
              <a:t>└─ .github/workflows/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1764792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 / 7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08483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離線測試通過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82396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51976" y="1764792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951976" y="208483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無答案 snapshots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2697480"/>
            <a:ext cx="4480560" cy="969264"/>
          </a:xfrm>
          <a:prstGeom prst="roundRect">
            <a:avLst>
              <a:gd name="adj" fmla="val 7547"/>
            </a:avLst>
          </a:prstGeom>
          <a:solidFill>
            <a:srgbClr val="1025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.659956384576954e+102" dist="3.9363438111713427e+102" dir="1.2793629613468366e+121">
              <a:srgbClr val="000000">
                <a:alpha val="2.2000000000000006e+124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48272" y="28529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JSON 格式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JavaScript 語法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技術指標與分數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置頂門檻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No-leak 禁用欄位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.099814460841273e+107" dist="4.9991566401876055e+106" dir="7.67617776808102e+125">
              <a:srgbClr val="000000">
                <a:alpha val="2.2000000000000006e+129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48272" y="4114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正式上線後的第一件事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48272" y="44531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手動執行 Daily free news analysis，讓真實資料取代清楚標示的合成 demo。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492240" y="5376672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55138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ZIP 解壓 → 上傳 GitHub → 啟用 Pages → Run workflow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ROADMAP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從可用版本走向可信研究系統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先累積每日不可變快照，再用 walk-forward 決定哪些模型與權重真的值得保留。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700784"/>
            <a:ext cx="2633472" cy="3273552"/>
          </a:xfrm>
          <a:prstGeom prst="roundRect">
            <a:avLst>
              <a:gd name="adj" fmla="val 2778"/>
            </a:avLst>
          </a:prstGeom>
          <a:solidFill>
            <a:srgbClr val="0D1D31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.3967643652684168e+111" dist="6.348928933038258e+110" dir="4.605706660848612e+130">
              <a:srgbClr val="000000">
                <a:alpha val="2.2000000000000004e+1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385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34D399">
              <a:alpha val="16000"/>
            </a:srgbClr>
          </a:solidFill>
          <a:ln w="10160">
            <a:solidFill>
              <a:srgbClr val="34D399">
                <a:alpha val="42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431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97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上線與穩定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18688"/>
            <a:ext cx="22128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 Pages、設定 Sheets、每日保存 snapshot、監控來源失敗。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3429000" y="1700784"/>
            <a:ext cx="2633472" cy="3273552"/>
          </a:xfrm>
          <a:prstGeom prst="roundRect">
            <a:avLst>
              <a:gd name="adj" fmla="val 2778"/>
            </a:avLst>
          </a:prstGeom>
          <a:solidFill>
            <a:srgbClr val="10253C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.7738907438908893e+115" dist="8.063139744958588e+114" dir="2.763423996509167e+135">
              <a:srgbClr val="000000">
                <a:alpha val="2.2000000000000005e+13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19385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38BDF8">
              <a:alpha val="16000"/>
            </a:srgbClr>
          </a:solidFill>
          <a:ln w="10160">
            <a:solidFill>
              <a:srgbClr val="38BDF8">
                <a:alpha val="4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9431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1-2 個月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4597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累積驗證樣本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218688"/>
            <a:ext cx="22128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分數分桶、Brier、1/5/20 日、產業與來源分析。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327648" y="1700784"/>
            <a:ext cx="2633472" cy="3273552"/>
          </a:xfrm>
          <a:prstGeom prst="roundRect">
            <a:avLst>
              <a:gd name="adj" fmla="val 2778"/>
            </a:avLst>
          </a:prstGeom>
          <a:solidFill>
            <a:srgbClr val="0D1D31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.2528412447414294e+119" dist="1.0240187476097407e+119" dir="1.6580543979055002e+140">
              <a:srgbClr val="000000">
                <a:alpha val="2.2000000000000006e+14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19385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9E0B">
              <a:alpha val="16000"/>
            </a:srgbClr>
          </a:solidFill>
          <a:ln w="10160">
            <a:solidFill>
              <a:srgbClr val="F59E0B">
                <a:alpha val="42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19431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3-6 個月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4597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校準與資料擴充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218688"/>
            <a:ext cx="22128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歷史基本面 archive、benchmark 異常報酬、事件群聚去重。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9226296" y="1700784"/>
            <a:ext cx="2633472" cy="3273552"/>
          </a:xfrm>
          <a:prstGeom prst="roundRect">
            <a:avLst>
              <a:gd name="adj" fmla="val 2778"/>
            </a:avLst>
          </a:prstGeom>
          <a:solidFill>
            <a:srgbClr val="10253C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2.8611083808216155e+123" dist="1.3005038094643706e+123" dir="9.948326387433002e+144">
              <a:srgbClr val="000000">
                <a:alpha val="2.2000000000000004e+14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27464" y="19385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A78BFA">
              <a:alpha val="16000"/>
            </a:srgbClr>
          </a:solidFill>
          <a:ln w="10160">
            <a:solidFill>
              <a:srgbClr val="A78BFA">
                <a:alpha val="42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7464" y="19431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之後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4597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多人與進階模型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3218688"/>
            <a:ext cx="22128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需要時才升級 Auth、資料庫、更大模型與正式後端。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987552" y="5376672"/>
            <a:ext cx="10195560" cy="640080"/>
          </a:xfrm>
          <a:prstGeom prst="roundRect">
            <a:avLst>
              <a:gd name="adj" fmla="val 11429"/>
            </a:avLst>
          </a:prstGeom>
          <a:solidFill>
            <a:srgbClr val="0A2630"/>
          </a:solidFill>
          <a:ln w="12700">
            <a:solidFill>
              <a:srgbClr val="22D3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25296" y="5541264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先建立可信的資料時間線，再追求更大的模型；否則更聰明的模型只會更有說服力地偷看未來。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主要官方文件與模型來源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部署前仍應再次確認各服務最新條款、額度、端點與 model card。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64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 Pages / Actions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2176272" y="1764792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docs.github.com/pages/getting-started-with-github-pages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docs.github.com/actions/using-workflows/events-that-trigger-workflows#schedule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199632" y="1627632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7647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D3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Apps Script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845552" y="1764792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developers.google.com/apps-script/guides/web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developers.google.com/apps-script/guides/services/quotas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30352" y="2926080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Hugging Face 模型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3063240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huggingface.co/bardsai/finance-sentiment-zh-fast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huggingface.co/Qwen/Qwen3-0.6B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199632" y="2926080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TWSE OpenAPI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845552" y="3063240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openapi.twse.com.tw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www.twse.com.tw/rwd/zh/fund/T86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30352" y="4224528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0D1D31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61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參考網站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2176272" y="4361688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kmuftp-creater.github.io/tw-stock-analyzer/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199632" y="4224528"/>
            <a:ext cx="5349240" cy="1042416"/>
          </a:xfrm>
          <a:prstGeom prst="roundRect">
            <a:avLst>
              <a:gd name="adj" fmla="val 7018"/>
            </a:avLst>
          </a:prstGeom>
          <a:solidFill>
            <a:srgbClr val="10253C"/>
          </a:solidFill>
          <a:ln w="12700">
            <a:solidFill>
              <a:srgbClr val="1E3A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61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原始作品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4361688"/>
            <a:ext cx="3456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FB0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github.com/flyree140/stocklab</a:t>
            </a:r>
            <a:endParaRPr lang="en-US" sz="106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87959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StockLab Free AI v14｜完整專案、ZIP 與簡報均已重新生成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F829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StockLab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StockLab Free AI v14</dc:title>
  <dc:subject>免費台股新聞 AI 分析、每日置頂、Google Sheets 最愛與無洩漏回測</dc:subject>
  <dc:creator>StockLab / OpenAI</dc:creator>
  <cp:lastModifiedBy>StockLab / OpenAI</cp:lastModifiedBy>
  <cp:revision>1</cp:revision>
  <dcterms:created xsi:type="dcterms:W3CDTF">2026-08-29T08:08:46Z</dcterms:created>
  <dcterms:modified xsi:type="dcterms:W3CDTF">2026-08-29T08:08:46Z</dcterms:modified>
</cp:coreProperties>
</file>